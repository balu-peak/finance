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4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4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73EB4-6A5B-504C-C203-73A1EE4FE6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Personal finance</a:t>
            </a:r>
          </a:p>
        </p:txBody>
      </p:sp>
    </p:spTree>
    <p:extLst>
      <p:ext uri="{BB962C8B-B14F-4D97-AF65-F5344CB8AC3E}">
        <p14:creationId xmlns:p14="http://schemas.microsoft.com/office/powerpoint/2010/main" val="1879459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591C272-AD40-31B8-A57D-2D55A03C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en-US" u="sng" dirty="0"/>
              <a:t>Personal budgeting and savings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23CA441-26B0-3B0A-59E5-06DA1412A8D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18423" y="2063450"/>
            <a:ext cx="4448175" cy="3298837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6FEF1C2-DD1E-07CC-9142-3976BCB167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personal</a:t>
            </a:r>
            <a:r>
              <a:rPr lang="en-US" dirty="0"/>
              <a:t> </a:t>
            </a:r>
            <a:r>
              <a:rPr lang="en-US" b="1" dirty="0"/>
              <a:t>budgeting</a:t>
            </a:r>
          </a:p>
          <a:p>
            <a:r>
              <a:rPr lang="en-US" dirty="0"/>
              <a:t>Personal budgeting means planning how to use your money so that income and expenses are balanced.</a:t>
            </a:r>
          </a:p>
          <a:p>
            <a:endParaRPr lang="en-US" dirty="0"/>
          </a:p>
          <a:p>
            <a:r>
              <a:rPr lang="en-US" b="1" dirty="0"/>
              <a:t>Personal</a:t>
            </a:r>
            <a:r>
              <a:rPr lang="en-US" dirty="0"/>
              <a:t> </a:t>
            </a:r>
            <a:r>
              <a:rPr lang="en-US" b="1" dirty="0"/>
              <a:t>savings</a:t>
            </a:r>
          </a:p>
          <a:p>
            <a:r>
              <a:rPr lang="en-US" dirty="0"/>
              <a:t>Savings is the money kept aside after expenses for future use like emergencies, education, travel, or investments.</a:t>
            </a:r>
          </a:p>
        </p:txBody>
      </p:sp>
    </p:spTree>
    <p:extLst>
      <p:ext uri="{BB962C8B-B14F-4D97-AF65-F5344CB8AC3E}">
        <p14:creationId xmlns:p14="http://schemas.microsoft.com/office/powerpoint/2010/main" val="3181483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E1B0-C9F5-53F3-5641-543F40E93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u="sng" dirty="0"/>
              <a:t>Retirement</a:t>
            </a:r>
            <a:r>
              <a:rPr lang="en-US" dirty="0"/>
              <a:t> </a:t>
            </a:r>
            <a:r>
              <a:rPr lang="en-US" u="sng" dirty="0"/>
              <a:t>planning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3A1E36-5138-AF0D-3DC1-AC7696192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5403" y="1827547"/>
            <a:ext cx="4447786" cy="40398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Retirement</a:t>
            </a:r>
            <a:r>
              <a:rPr lang="en-US" dirty="0"/>
              <a:t> </a:t>
            </a:r>
            <a:r>
              <a:rPr lang="en-US" b="1" dirty="0"/>
              <a:t>planning</a:t>
            </a:r>
          </a:p>
          <a:p>
            <a:pPr marL="0" indent="0">
              <a:buNone/>
            </a:pPr>
            <a:r>
              <a:rPr lang="en-US" dirty="0"/>
              <a:t>Preparing</a:t>
            </a:r>
            <a:r>
              <a:rPr lang="en-US" b="1" dirty="0"/>
              <a:t> </a:t>
            </a:r>
            <a:r>
              <a:rPr lang="en-US" dirty="0"/>
              <a:t>financially</a:t>
            </a:r>
            <a:r>
              <a:rPr lang="en-US" b="1" dirty="0"/>
              <a:t> </a:t>
            </a:r>
            <a:r>
              <a:rPr lang="en-US" dirty="0"/>
              <a:t>for</a:t>
            </a:r>
            <a:r>
              <a:rPr lang="en-US" b="1" dirty="0"/>
              <a:t> </a:t>
            </a:r>
            <a:r>
              <a:rPr lang="en-US" dirty="0"/>
              <a:t>life</a:t>
            </a:r>
            <a:r>
              <a:rPr lang="en-US" b="1" dirty="0"/>
              <a:t> </a:t>
            </a:r>
            <a:r>
              <a:rPr lang="en-US" dirty="0"/>
              <a:t>after</a:t>
            </a:r>
            <a:r>
              <a:rPr lang="en-US" b="1" dirty="0"/>
              <a:t> </a:t>
            </a:r>
            <a:r>
              <a:rPr lang="en-US" dirty="0"/>
              <a:t>you</a:t>
            </a:r>
            <a:r>
              <a:rPr lang="en-US" b="1" dirty="0"/>
              <a:t> </a:t>
            </a:r>
            <a:r>
              <a:rPr lang="en-US" dirty="0"/>
              <a:t>stop</a:t>
            </a:r>
            <a:r>
              <a:rPr lang="en-US" b="1" dirty="0"/>
              <a:t> </a:t>
            </a:r>
            <a:r>
              <a:rPr lang="en-US" dirty="0"/>
              <a:t>working</a:t>
            </a:r>
            <a:r>
              <a:rPr lang="en-US" b="1" dirty="0"/>
              <a:t>, </a:t>
            </a:r>
            <a:r>
              <a:rPr lang="en-US" dirty="0"/>
              <a:t>so</a:t>
            </a:r>
            <a:r>
              <a:rPr lang="en-US" b="1" dirty="0"/>
              <a:t> </a:t>
            </a:r>
            <a:r>
              <a:rPr lang="en-US" dirty="0"/>
              <a:t>you</a:t>
            </a:r>
            <a:r>
              <a:rPr lang="en-US" b="1" dirty="0"/>
              <a:t> </a:t>
            </a:r>
            <a:r>
              <a:rPr lang="en-US" dirty="0"/>
              <a:t>can</a:t>
            </a:r>
            <a:r>
              <a:rPr lang="en-US" b="1" dirty="0"/>
              <a:t> </a:t>
            </a:r>
            <a:r>
              <a:rPr lang="en-US" dirty="0"/>
              <a:t>live</a:t>
            </a:r>
            <a:r>
              <a:rPr lang="en-US" b="1" dirty="0"/>
              <a:t> </a:t>
            </a:r>
            <a:r>
              <a:rPr lang="en-US" dirty="0"/>
              <a:t>comfortably</a:t>
            </a:r>
            <a:r>
              <a:rPr lang="en-US" b="1" dirty="0"/>
              <a:t> </a:t>
            </a:r>
            <a:r>
              <a:rPr lang="en-US" dirty="0"/>
              <a:t>without</a:t>
            </a:r>
            <a:r>
              <a:rPr lang="en-US" b="1" dirty="0"/>
              <a:t> </a:t>
            </a:r>
            <a:r>
              <a:rPr lang="en-US" dirty="0"/>
              <a:t>depending</a:t>
            </a:r>
            <a:r>
              <a:rPr lang="en-US" b="1" dirty="0"/>
              <a:t> </a:t>
            </a:r>
            <a:r>
              <a:rPr lang="en-US" dirty="0"/>
              <a:t>on</a:t>
            </a:r>
            <a:r>
              <a:rPr lang="en-US" b="1" dirty="0"/>
              <a:t> </a:t>
            </a:r>
            <a:r>
              <a:rPr lang="en-US" dirty="0"/>
              <a:t>others</a:t>
            </a:r>
            <a:r>
              <a:rPr lang="en-US" b="1" dirty="0"/>
              <a:t>.</a:t>
            </a:r>
          </a:p>
          <a:p>
            <a:r>
              <a:rPr lang="en-US" b="1" dirty="0"/>
              <a:t>Sources</a:t>
            </a:r>
            <a:r>
              <a:rPr lang="en-US" dirty="0"/>
              <a:t> </a:t>
            </a:r>
            <a:r>
              <a:rPr lang="en-US" b="1" dirty="0"/>
              <a:t>of</a:t>
            </a:r>
            <a:r>
              <a:rPr lang="en-US" dirty="0"/>
              <a:t> </a:t>
            </a:r>
            <a:r>
              <a:rPr lang="en-US" b="1" dirty="0"/>
              <a:t>Retirement</a:t>
            </a:r>
            <a:r>
              <a:rPr lang="en-US" dirty="0"/>
              <a:t> </a:t>
            </a:r>
            <a:r>
              <a:rPr lang="en-US" b="1" dirty="0"/>
              <a:t>Income</a:t>
            </a:r>
          </a:p>
          <a:p>
            <a:r>
              <a:rPr lang="en-US" dirty="0"/>
              <a:t>Pension
Provident Fund (PF / EPF)
National Pension System (NPS)
Savings and investments
Fixed deposits, mutual funds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405F38C-5523-558E-D3A4-B8637EAAC9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1827547"/>
            <a:ext cx="4448175" cy="373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990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28F1-C099-D12E-ECE9-F8006D7CD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u="sng" dirty="0"/>
              <a:t>Tax</a:t>
            </a:r>
            <a:r>
              <a:rPr lang="en-US" dirty="0"/>
              <a:t> </a:t>
            </a:r>
            <a:r>
              <a:rPr lang="en-US" u="sng" dirty="0"/>
              <a:t>planning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13D55-A356-BF83-643D-9224CEF6C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5403" y="1698607"/>
            <a:ext cx="4447786" cy="4168794"/>
          </a:xfrm>
        </p:spPr>
        <p:txBody>
          <a:bodyPr/>
          <a:lstStyle/>
          <a:p>
            <a:r>
              <a:rPr lang="en-US" b="1" dirty="0"/>
              <a:t>Tax planning</a:t>
            </a:r>
          </a:p>
          <a:p>
            <a:pPr marL="0" indent="0">
              <a:buNone/>
            </a:pPr>
            <a:r>
              <a:rPr lang="en-US" dirty="0"/>
              <a:t>Legally</a:t>
            </a:r>
            <a:r>
              <a:rPr lang="en-US" b="1" dirty="0"/>
              <a:t> </a:t>
            </a:r>
            <a:r>
              <a:rPr lang="en-US" dirty="0"/>
              <a:t>reducing</a:t>
            </a:r>
            <a:r>
              <a:rPr lang="en-US" b="1" dirty="0"/>
              <a:t> </a:t>
            </a:r>
            <a:r>
              <a:rPr lang="en-US" dirty="0"/>
              <a:t>tax</a:t>
            </a:r>
            <a:r>
              <a:rPr lang="en-US" b="1" dirty="0"/>
              <a:t> </a:t>
            </a:r>
            <a:r>
              <a:rPr lang="en-US" dirty="0"/>
              <a:t>liability</a:t>
            </a:r>
            <a:r>
              <a:rPr lang="en-US" b="1" dirty="0"/>
              <a:t> </a:t>
            </a:r>
            <a:r>
              <a:rPr lang="en-US" dirty="0"/>
              <a:t>by</a:t>
            </a:r>
            <a:r>
              <a:rPr lang="en-US" b="1" dirty="0"/>
              <a:t> </a:t>
            </a:r>
            <a:r>
              <a:rPr lang="en-US" dirty="0"/>
              <a:t>properly</a:t>
            </a:r>
            <a:r>
              <a:rPr lang="en-US" b="1" dirty="0"/>
              <a:t> </a:t>
            </a:r>
            <a:r>
              <a:rPr lang="en-US" dirty="0"/>
              <a:t>using</a:t>
            </a:r>
            <a:r>
              <a:rPr lang="en-US" b="1" dirty="0"/>
              <a:t> </a:t>
            </a:r>
            <a:r>
              <a:rPr lang="en-US" dirty="0"/>
              <a:t>exemptions</a:t>
            </a:r>
            <a:r>
              <a:rPr lang="en-US" b="1" dirty="0"/>
              <a:t>, </a:t>
            </a:r>
            <a:r>
              <a:rPr lang="en-US" dirty="0"/>
              <a:t>deductions</a:t>
            </a:r>
            <a:r>
              <a:rPr lang="en-US" b="1" dirty="0"/>
              <a:t>, </a:t>
            </a:r>
            <a:r>
              <a:rPr lang="en-US" dirty="0"/>
              <a:t>and</a:t>
            </a:r>
            <a:r>
              <a:rPr lang="en-US" b="1" dirty="0"/>
              <a:t> </a:t>
            </a:r>
            <a:r>
              <a:rPr lang="en-US" dirty="0"/>
              <a:t>rebates</a:t>
            </a:r>
            <a:r>
              <a:rPr lang="en-US" b="1" dirty="0"/>
              <a:t> </a:t>
            </a:r>
            <a:r>
              <a:rPr lang="en-US" dirty="0"/>
              <a:t>allowed</a:t>
            </a:r>
            <a:r>
              <a:rPr lang="en-US" b="1" dirty="0"/>
              <a:t> </a:t>
            </a:r>
            <a:r>
              <a:rPr lang="en-US" dirty="0"/>
              <a:t>under</a:t>
            </a:r>
            <a:r>
              <a:rPr lang="en-US" b="1" dirty="0"/>
              <a:t> </a:t>
            </a:r>
            <a:r>
              <a:rPr lang="en-US" dirty="0"/>
              <a:t>tax</a:t>
            </a:r>
            <a:r>
              <a:rPr lang="en-US" b="1" dirty="0"/>
              <a:t> </a:t>
            </a:r>
            <a:r>
              <a:rPr lang="en-US" dirty="0"/>
              <a:t>laws</a:t>
            </a:r>
            <a:r>
              <a:rPr lang="en-US" b="1" dirty="0"/>
              <a:t>.</a:t>
            </a:r>
          </a:p>
          <a:p>
            <a:r>
              <a:rPr lang="en-US" b="1" dirty="0"/>
              <a:t>Objectives of Tax Planning
</a:t>
            </a:r>
            <a:r>
              <a:rPr lang="en-US" dirty="0"/>
              <a:t>Reduce</a:t>
            </a:r>
            <a:r>
              <a:rPr lang="en-US" b="1" dirty="0"/>
              <a:t> </a:t>
            </a:r>
            <a:r>
              <a:rPr lang="en-US" dirty="0"/>
              <a:t>tax</a:t>
            </a:r>
            <a:r>
              <a:rPr lang="en-US" b="1" dirty="0"/>
              <a:t> </a:t>
            </a:r>
            <a:r>
              <a:rPr lang="en-US" dirty="0"/>
              <a:t>payable</a:t>
            </a:r>
            <a:r>
              <a:rPr lang="en-US" b="1" dirty="0"/>
              <a:t>
</a:t>
            </a:r>
            <a:r>
              <a:rPr lang="en-US" dirty="0"/>
              <a:t>Increase</a:t>
            </a:r>
            <a:r>
              <a:rPr lang="en-US" b="1" dirty="0"/>
              <a:t> </a:t>
            </a:r>
            <a:r>
              <a:rPr lang="en-US" dirty="0"/>
              <a:t>savings</a:t>
            </a:r>
            <a:r>
              <a:rPr lang="en-US" b="1" dirty="0"/>
              <a:t>
</a:t>
            </a:r>
            <a:r>
              <a:rPr lang="en-US" dirty="0"/>
              <a:t>Proper</a:t>
            </a:r>
            <a:r>
              <a:rPr lang="en-US" b="1" dirty="0"/>
              <a:t> </a:t>
            </a:r>
            <a:r>
              <a:rPr lang="en-US" dirty="0"/>
              <a:t>financial</a:t>
            </a:r>
            <a:r>
              <a:rPr lang="en-US" b="1" dirty="0"/>
              <a:t> </a:t>
            </a:r>
            <a:r>
              <a:rPr lang="en-US" dirty="0"/>
              <a:t>planning</a:t>
            </a:r>
            <a:r>
              <a:rPr lang="en-US" b="1" dirty="0"/>
              <a:t>
</a:t>
            </a:r>
            <a:r>
              <a:rPr lang="en-US" dirty="0"/>
              <a:t>Avoid</a:t>
            </a:r>
            <a:r>
              <a:rPr lang="en-US" b="1" dirty="0"/>
              <a:t> </a:t>
            </a:r>
            <a:r>
              <a:rPr lang="en-US" dirty="0"/>
              <a:t>last-minute</a:t>
            </a:r>
            <a:r>
              <a:rPr lang="en-US" b="1" dirty="0"/>
              <a:t> </a:t>
            </a:r>
            <a:r>
              <a:rPr lang="en-US" dirty="0"/>
              <a:t>tax</a:t>
            </a:r>
            <a:r>
              <a:rPr lang="en-US" b="1" dirty="0"/>
              <a:t> </a:t>
            </a:r>
            <a:r>
              <a:rPr lang="en-US" dirty="0"/>
              <a:t>burden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1D4AAA6-1CAF-EDC5-89CC-0B32516F8C1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07553" y="1904236"/>
            <a:ext cx="4726992" cy="375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269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79DF0-D7F8-BA60-BAB8-751B53027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u="sng" dirty="0"/>
              <a:t>Insurance</a:t>
            </a:r>
            <a:r>
              <a:rPr lang="en-US" dirty="0"/>
              <a:t> </a:t>
            </a:r>
            <a:r>
              <a:rPr lang="en-US" u="sng" dirty="0"/>
              <a:t>and</a:t>
            </a:r>
            <a:r>
              <a:rPr lang="en-US" dirty="0"/>
              <a:t> </a:t>
            </a:r>
            <a:r>
              <a:rPr lang="en-US" u="sng" dirty="0"/>
              <a:t>risk</a:t>
            </a:r>
            <a:r>
              <a:rPr lang="en-US" dirty="0"/>
              <a:t> </a:t>
            </a:r>
            <a:r>
              <a:rPr lang="en-US" u="sng" dirty="0"/>
              <a:t>protection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2E342D-8299-43EE-32C1-F0949ABB85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2171700"/>
            <a:ext cx="4447786" cy="3894573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7B6AC2D-F16D-59E9-151E-66C04E98FE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Insurance</a:t>
            </a:r>
          </a:p>
          <a:p>
            <a:r>
              <a:rPr lang="en-US" dirty="0"/>
              <a:t>Financial</a:t>
            </a:r>
            <a:r>
              <a:rPr lang="en-US" b="1" dirty="0"/>
              <a:t> </a:t>
            </a:r>
            <a:r>
              <a:rPr lang="en-US" dirty="0"/>
              <a:t>protection</a:t>
            </a:r>
            <a:r>
              <a:rPr lang="en-US" b="1" dirty="0"/>
              <a:t> </a:t>
            </a:r>
            <a:r>
              <a:rPr lang="en-US" dirty="0"/>
              <a:t>plan</a:t>
            </a:r>
            <a:r>
              <a:rPr lang="en-US" b="1" dirty="0"/>
              <a:t> </a:t>
            </a:r>
            <a:r>
              <a:rPr lang="en-US" dirty="0"/>
              <a:t>where</a:t>
            </a:r>
            <a:r>
              <a:rPr lang="en-US" b="1" dirty="0"/>
              <a:t> </a:t>
            </a:r>
            <a:r>
              <a:rPr lang="en-US" dirty="0"/>
              <a:t>a</a:t>
            </a:r>
            <a:r>
              <a:rPr lang="en-US" b="1" dirty="0"/>
              <a:t> </a:t>
            </a:r>
            <a:r>
              <a:rPr lang="en-US" dirty="0"/>
              <a:t>person</a:t>
            </a:r>
            <a:r>
              <a:rPr lang="en-US" b="1" dirty="0"/>
              <a:t> </a:t>
            </a:r>
            <a:r>
              <a:rPr lang="en-US" dirty="0"/>
              <a:t>pays</a:t>
            </a:r>
            <a:r>
              <a:rPr lang="en-US" b="1" dirty="0"/>
              <a:t> </a:t>
            </a:r>
            <a:r>
              <a:rPr lang="en-US" dirty="0"/>
              <a:t>a</a:t>
            </a:r>
            <a:r>
              <a:rPr lang="en-US" b="1" dirty="0"/>
              <a:t> </a:t>
            </a:r>
            <a:r>
              <a:rPr lang="en-US" dirty="0"/>
              <a:t>small</a:t>
            </a:r>
            <a:r>
              <a:rPr lang="en-US" b="1" dirty="0"/>
              <a:t> </a:t>
            </a:r>
            <a:r>
              <a:rPr lang="en-US" dirty="0"/>
              <a:t>amount</a:t>
            </a:r>
            <a:r>
              <a:rPr lang="en-US" b="1" dirty="0"/>
              <a:t> (</a:t>
            </a:r>
            <a:r>
              <a:rPr lang="en-US" dirty="0"/>
              <a:t>premium</a:t>
            </a:r>
            <a:r>
              <a:rPr lang="en-US" b="1" dirty="0"/>
              <a:t>) </a:t>
            </a:r>
            <a:r>
              <a:rPr lang="en-US" dirty="0"/>
              <a:t>regularly</a:t>
            </a:r>
            <a:r>
              <a:rPr lang="en-US" b="1" dirty="0"/>
              <a:t> </a:t>
            </a:r>
            <a:r>
              <a:rPr lang="en-US" dirty="0"/>
              <a:t>to</a:t>
            </a:r>
            <a:r>
              <a:rPr lang="en-US" b="1" dirty="0"/>
              <a:t> </a:t>
            </a:r>
            <a:r>
              <a:rPr lang="en-US" dirty="0"/>
              <a:t>protect</a:t>
            </a:r>
            <a:r>
              <a:rPr lang="en-US" b="1" dirty="0"/>
              <a:t> </a:t>
            </a:r>
            <a:r>
              <a:rPr lang="en-US" dirty="0"/>
              <a:t>against</a:t>
            </a:r>
            <a:r>
              <a:rPr lang="en-US" b="1" dirty="0"/>
              <a:t> </a:t>
            </a:r>
            <a:r>
              <a:rPr lang="en-US" dirty="0"/>
              <a:t>financial</a:t>
            </a:r>
            <a:r>
              <a:rPr lang="en-US" b="1" dirty="0"/>
              <a:t> </a:t>
            </a:r>
            <a:r>
              <a:rPr lang="en-US" dirty="0"/>
              <a:t>loss</a:t>
            </a:r>
            <a:r>
              <a:rPr lang="en-US" b="1" dirty="0"/>
              <a:t> </a:t>
            </a:r>
            <a:r>
              <a:rPr lang="en-US" dirty="0"/>
              <a:t>due</a:t>
            </a:r>
            <a:r>
              <a:rPr lang="en-US" b="1" dirty="0"/>
              <a:t> </a:t>
            </a:r>
            <a:r>
              <a:rPr lang="en-US" dirty="0"/>
              <a:t>to</a:t>
            </a:r>
            <a:r>
              <a:rPr lang="en-US" b="1" dirty="0"/>
              <a:t> </a:t>
            </a:r>
            <a:r>
              <a:rPr lang="en-US" dirty="0"/>
              <a:t>risk</a:t>
            </a:r>
            <a:r>
              <a:rPr lang="en-US" b="1" dirty="0"/>
              <a:t>.</a:t>
            </a:r>
          </a:p>
          <a:p>
            <a:r>
              <a:rPr lang="en-US" b="1" dirty="0"/>
              <a:t>Risk protection</a:t>
            </a:r>
          </a:p>
          <a:p>
            <a:r>
              <a:rPr lang="en-US" dirty="0"/>
              <a:t>Reducing</a:t>
            </a:r>
            <a:r>
              <a:rPr lang="en-US" b="1" dirty="0"/>
              <a:t> </a:t>
            </a:r>
            <a:r>
              <a:rPr lang="en-US" dirty="0"/>
              <a:t>financial</a:t>
            </a:r>
            <a:r>
              <a:rPr lang="en-US" b="1" dirty="0"/>
              <a:t> </a:t>
            </a:r>
            <a:r>
              <a:rPr lang="en-US" dirty="0"/>
              <a:t>loss</a:t>
            </a:r>
            <a:r>
              <a:rPr lang="en-US" b="1" dirty="0"/>
              <a:t> </a:t>
            </a:r>
            <a:r>
              <a:rPr lang="en-US" dirty="0"/>
              <a:t>caused</a:t>
            </a:r>
            <a:r>
              <a:rPr lang="en-US" b="1" dirty="0"/>
              <a:t> </a:t>
            </a:r>
            <a:r>
              <a:rPr lang="en-US" dirty="0"/>
              <a:t>by</a:t>
            </a:r>
            <a:r>
              <a:rPr lang="en-US" b="1" dirty="0"/>
              <a:t> </a:t>
            </a:r>
            <a:r>
              <a:rPr lang="en-US" dirty="0"/>
              <a:t>unexpected</a:t>
            </a:r>
            <a:r>
              <a:rPr lang="en-US" b="1" dirty="0"/>
              <a:t> </a:t>
            </a:r>
            <a:r>
              <a:rPr lang="en-US" dirty="0"/>
              <a:t>events</a:t>
            </a:r>
            <a:r>
              <a:rPr lang="en-US" b="1" dirty="0"/>
              <a:t> </a:t>
            </a:r>
            <a:r>
              <a:rPr lang="en-US" dirty="0"/>
              <a:t>using</a:t>
            </a:r>
            <a:r>
              <a:rPr lang="en-US" b="1" dirty="0"/>
              <a:t> </a:t>
            </a:r>
            <a:r>
              <a:rPr lang="en-US" dirty="0"/>
              <a:t>tools</a:t>
            </a:r>
            <a:r>
              <a:rPr lang="en-US" b="1" dirty="0"/>
              <a:t> </a:t>
            </a:r>
            <a:r>
              <a:rPr lang="en-US" dirty="0"/>
              <a:t>like</a:t>
            </a:r>
            <a:r>
              <a:rPr lang="en-US" b="1" dirty="0"/>
              <a:t> </a:t>
            </a:r>
            <a:r>
              <a:rPr lang="en-US" dirty="0"/>
              <a:t>insurance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8305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62250-5E92-C74C-3827-B3C4CC747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u="sng" dirty="0"/>
              <a:t>Debt</a:t>
            </a:r>
            <a:r>
              <a:rPr lang="en-US" dirty="0"/>
              <a:t> </a:t>
            </a:r>
            <a:r>
              <a:rPr lang="en-US" u="sng" dirty="0"/>
              <a:t>management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4B291-E024-0A5C-C430-600BE4222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5402" y="1411941"/>
            <a:ext cx="5433945" cy="467189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Debt</a:t>
            </a:r>
          </a:p>
          <a:p>
            <a:r>
              <a:rPr lang="en-US" dirty="0"/>
              <a:t>Money</a:t>
            </a:r>
            <a:r>
              <a:rPr lang="en-US" b="1" dirty="0"/>
              <a:t> </a:t>
            </a:r>
            <a:r>
              <a:rPr lang="en-US" dirty="0"/>
              <a:t>borrowed</a:t>
            </a:r>
            <a:r>
              <a:rPr lang="en-US" b="1" dirty="0"/>
              <a:t> </a:t>
            </a:r>
            <a:r>
              <a:rPr lang="en-US" dirty="0"/>
              <a:t>from</a:t>
            </a:r>
            <a:r>
              <a:rPr lang="en-US" b="1" dirty="0"/>
              <a:t> </a:t>
            </a:r>
            <a:r>
              <a:rPr lang="en-US" dirty="0"/>
              <a:t>banks</a:t>
            </a:r>
            <a:r>
              <a:rPr lang="en-US" b="1" dirty="0"/>
              <a:t> </a:t>
            </a:r>
            <a:r>
              <a:rPr lang="en-US" dirty="0"/>
              <a:t>or</a:t>
            </a:r>
            <a:r>
              <a:rPr lang="en-US" b="1" dirty="0"/>
              <a:t> </a:t>
            </a:r>
            <a:r>
              <a:rPr lang="en-US" dirty="0"/>
              <a:t>lenders</a:t>
            </a:r>
            <a:r>
              <a:rPr lang="en-US" b="1" dirty="0"/>
              <a:t> </a:t>
            </a:r>
            <a:r>
              <a:rPr lang="en-US" dirty="0"/>
              <a:t>that</a:t>
            </a:r>
            <a:r>
              <a:rPr lang="en-US" b="1" dirty="0"/>
              <a:t> </a:t>
            </a:r>
            <a:r>
              <a:rPr lang="en-US" dirty="0"/>
              <a:t>must</a:t>
            </a:r>
            <a:r>
              <a:rPr lang="en-US" b="1" dirty="0"/>
              <a:t> </a:t>
            </a:r>
            <a:r>
              <a:rPr lang="en-US" dirty="0"/>
              <a:t>be</a:t>
            </a:r>
            <a:r>
              <a:rPr lang="en-US" b="1" dirty="0"/>
              <a:t> </a:t>
            </a:r>
            <a:r>
              <a:rPr lang="en-US" dirty="0"/>
              <a:t>repaid</a:t>
            </a:r>
            <a:r>
              <a:rPr lang="en-US" b="1" dirty="0"/>
              <a:t> </a:t>
            </a:r>
            <a:r>
              <a:rPr lang="en-US" dirty="0"/>
              <a:t>with</a:t>
            </a:r>
            <a:r>
              <a:rPr lang="en-US" b="1" dirty="0"/>
              <a:t> </a:t>
            </a:r>
            <a:r>
              <a:rPr lang="en-US" dirty="0"/>
              <a:t>interest</a:t>
            </a:r>
            <a:r>
              <a:rPr lang="en-US" b="1" dirty="0"/>
              <a:t>.
Examples: </a:t>
            </a:r>
            <a:r>
              <a:rPr lang="en-US" dirty="0"/>
              <a:t>home</a:t>
            </a:r>
            <a:r>
              <a:rPr lang="en-US" b="1" dirty="0"/>
              <a:t> </a:t>
            </a:r>
            <a:r>
              <a:rPr lang="en-US" dirty="0"/>
              <a:t>loan</a:t>
            </a:r>
            <a:r>
              <a:rPr lang="en-US" b="1" dirty="0"/>
              <a:t>, </a:t>
            </a:r>
            <a:r>
              <a:rPr lang="en-US" dirty="0"/>
              <a:t>education</a:t>
            </a:r>
            <a:r>
              <a:rPr lang="en-US" b="1" dirty="0"/>
              <a:t> </a:t>
            </a:r>
            <a:r>
              <a:rPr lang="en-US" dirty="0"/>
              <a:t>loan</a:t>
            </a:r>
            <a:r>
              <a:rPr lang="en-US" b="1" dirty="0"/>
              <a:t>, </a:t>
            </a:r>
            <a:r>
              <a:rPr lang="en-US" dirty="0"/>
              <a:t>credit</a:t>
            </a:r>
            <a:r>
              <a:rPr lang="en-US" b="1" dirty="0"/>
              <a:t> </a:t>
            </a:r>
            <a:r>
              <a:rPr lang="en-US" dirty="0"/>
              <a:t>card</a:t>
            </a:r>
            <a:r>
              <a:rPr lang="en-US" b="1" dirty="0"/>
              <a:t> </a:t>
            </a:r>
            <a:r>
              <a:rPr lang="en-US" dirty="0"/>
              <a:t>dues</a:t>
            </a:r>
            <a:r>
              <a:rPr lang="en-US" b="1" dirty="0"/>
              <a:t>.</a:t>
            </a:r>
          </a:p>
          <a:p>
            <a:r>
              <a:rPr lang="en-US" b="1" dirty="0"/>
              <a:t>Debt management</a:t>
            </a:r>
          </a:p>
          <a:p>
            <a:r>
              <a:rPr lang="en-US" dirty="0"/>
              <a:t>Planning</a:t>
            </a:r>
            <a:r>
              <a:rPr lang="en-US" b="1" dirty="0"/>
              <a:t> </a:t>
            </a:r>
            <a:r>
              <a:rPr lang="en-US" dirty="0"/>
              <a:t>and</a:t>
            </a:r>
            <a:r>
              <a:rPr lang="en-US" b="1" dirty="0"/>
              <a:t> </a:t>
            </a:r>
            <a:r>
              <a:rPr lang="en-US" dirty="0"/>
              <a:t>controlling</a:t>
            </a:r>
            <a:r>
              <a:rPr lang="en-US" b="1" dirty="0"/>
              <a:t> </a:t>
            </a:r>
            <a:r>
              <a:rPr lang="en-US" dirty="0"/>
              <a:t>borrowed</a:t>
            </a:r>
            <a:r>
              <a:rPr lang="en-US" b="1" dirty="0"/>
              <a:t> </a:t>
            </a:r>
            <a:r>
              <a:rPr lang="en-US" dirty="0"/>
              <a:t>money</a:t>
            </a:r>
            <a:r>
              <a:rPr lang="en-US" b="1" dirty="0"/>
              <a:t> </a:t>
            </a:r>
            <a:r>
              <a:rPr lang="en-US" dirty="0"/>
              <a:t>so</a:t>
            </a:r>
            <a:r>
              <a:rPr lang="en-US" b="1" dirty="0"/>
              <a:t> </a:t>
            </a:r>
            <a:r>
              <a:rPr lang="en-US" dirty="0"/>
              <a:t>that</a:t>
            </a:r>
            <a:r>
              <a:rPr lang="en-US" b="1" dirty="0"/>
              <a:t> </a:t>
            </a:r>
            <a:r>
              <a:rPr lang="en-US" dirty="0"/>
              <a:t>loans</a:t>
            </a:r>
            <a:r>
              <a:rPr lang="en-US" b="1" dirty="0"/>
              <a:t> </a:t>
            </a:r>
            <a:r>
              <a:rPr lang="en-US" dirty="0"/>
              <a:t>are</a:t>
            </a:r>
            <a:r>
              <a:rPr lang="en-US" b="1" dirty="0"/>
              <a:t> </a:t>
            </a:r>
            <a:r>
              <a:rPr lang="en-US" dirty="0"/>
              <a:t>repaid</a:t>
            </a:r>
            <a:r>
              <a:rPr lang="en-US" b="1" dirty="0"/>
              <a:t> </a:t>
            </a:r>
            <a:r>
              <a:rPr lang="en-US" dirty="0"/>
              <a:t>on</a:t>
            </a:r>
            <a:r>
              <a:rPr lang="en-US" b="1" dirty="0"/>
              <a:t> </a:t>
            </a:r>
            <a:r>
              <a:rPr lang="en-US" dirty="0"/>
              <a:t>time</a:t>
            </a:r>
            <a:r>
              <a:rPr lang="en-US" b="1" dirty="0"/>
              <a:t> </a:t>
            </a:r>
            <a:r>
              <a:rPr lang="en-US" dirty="0"/>
              <a:t>without</a:t>
            </a:r>
            <a:r>
              <a:rPr lang="en-US" b="1" dirty="0"/>
              <a:t> </a:t>
            </a:r>
            <a:r>
              <a:rPr lang="en-US" dirty="0"/>
              <a:t>financial</a:t>
            </a:r>
            <a:r>
              <a:rPr lang="en-US" b="1" dirty="0"/>
              <a:t> </a:t>
            </a:r>
            <a:r>
              <a:rPr lang="en-US" dirty="0"/>
              <a:t>stress</a:t>
            </a:r>
          </a:p>
          <a:p>
            <a:r>
              <a:rPr lang="en-US" b="1" dirty="0"/>
              <a:t>Importance of Debt Management
</a:t>
            </a:r>
            <a:r>
              <a:rPr lang="en-US" dirty="0"/>
              <a:t>Avoids</a:t>
            </a:r>
            <a:r>
              <a:rPr lang="en-US" b="1" dirty="0"/>
              <a:t> </a:t>
            </a:r>
            <a:r>
              <a:rPr lang="en-US" dirty="0"/>
              <a:t>over-borrowing</a:t>
            </a:r>
            <a:r>
              <a:rPr lang="en-US" b="1" dirty="0"/>
              <a:t>
</a:t>
            </a:r>
            <a:r>
              <a:rPr lang="en-US" dirty="0"/>
              <a:t>Reduces</a:t>
            </a:r>
            <a:r>
              <a:rPr lang="en-US" b="1" dirty="0"/>
              <a:t> </a:t>
            </a:r>
            <a:r>
              <a:rPr lang="en-US" dirty="0"/>
              <a:t>interest</a:t>
            </a:r>
            <a:r>
              <a:rPr lang="en-US" b="1" dirty="0"/>
              <a:t> </a:t>
            </a:r>
            <a:r>
              <a:rPr lang="en-US" dirty="0"/>
              <a:t>burden</a:t>
            </a:r>
            <a:r>
              <a:rPr lang="en-US" b="1" dirty="0"/>
              <a:t>
</a:t>
            </a:r>
            <a:r>
              <a:rPr lang="en-US" dirty="0"/>
              <a:t>Maintains</a:t>
            </a:r>
            <a:r>
              <a:rPr lang="en-US" b="1" dirty="0"/>
              <a:t> </a:t>
            </a:r>
            <a:r>
              <a:rPr lang="en-US" dirty="0"/>
              <a:t>good</a:t>
            </a:r>
            <a:r>
              <a:rPr lang="en-US" b="1" dirty="0"/>
              <a:t> </a:t>
            </a:r>
            <a:r>
              <a:rPr lang="en-US" dirty="0"/>
              <a:t>credit</a:t>
            </a:r>
            <a:r>
              <a:rPr lang="en-US" b="1" dirty="0"/>
              <a:t> </a:t>
            </a:r>
            <a:r>
              <a:rPr lang="en-US" dirty="0"/>
              <a:t>score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22B8418-8491-E2BA-F073-5AF885698E6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2171700"/>
            <a:ext cx="4593258" cy="391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872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2C289-9C1A-2C6C-1A05-47CDC4AD5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5257973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025" id="{F9915BBD-9749-466F-995C-8C8D6A938EC0}" vid="{CF1D1A65-FC75-42D2-B7EF-D2991382DC6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Crop</vt:lpstr>
      <vt:lpstr>Personal finance</vt:lpstr>
      <vt:lpstr>Personal budgeting and savings</vt:lpstr>
      <vt:lpstr>2. Retirement planning</vt:lpstr>
      <vt:lpstr>3. Tax planning</vt:lpstr>
      <vt:lpstr>4. Insurance and risk protection</vt:lpstr>
      <vt:lpstr>5. Debt management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finance</dc:title>
  <dc:creator>Konda Balu</dc:creator>
  <cp:lastModifiedBy>Konda Balu</cp:lastModifiedBy>
  <cp:revision>2</cp:revision>
  <dcterms:created xsi:type="dcterms:W3CDTF">2026-01-13T06:36:30Z</dcterms:created>
  <dcterms:modified xsi:type="dcterms:W3CDTF">2026-01-19T10:06:30Z</dcterms:modified>
</cp:coreProperties>
</file>