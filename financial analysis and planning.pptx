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ableStyles" Target="tableStyle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heme" Target="theme/theme1.xml" /><Relationship Id="rId5" Type="http://schemas.openxmlformats.org/officeDocument/2006/relationships/slide" Target="slides/slide4.xml" /><Relationship Id="rId10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 /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.xml" /><Relationship Id="rId5" Type="http://schemas.microsoft.com/office/2007/relationships/hdphoto" Target="../media/hdphoto1.wdp" /><Relationship Id="rId4" Type="http://schemas.openxmlformats.org/officeDocument/2006/relationships/image" Target="../media/image3.png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 /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.xml" /><Relationship Id="rId5" Type="http://schemas.microsoft.com/office/2007/relationships/hdphoto" Target="../media/hdphoto1.wdp" /><Relationship Id="rId4" Type="http://schemas.openxmlformats.org/officeDocument/2006/relationships/image" Target="../media/image3.png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 /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.xml" /><Relationship Id="rId5" Type="http://schemas.microsoft.com/office/2007/relationships/hdphoto" Target="../media/hdphoto1.wdp" /><Relationship Id="rId4" Type="http://schemas.openxmlformats.org/officeDocument/2006/relationships/image" Target="../media/image2.png" 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 /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.xml" /><Relationship Id="rId5" Type="http://schemas.microsoft.com/office/2007/relationships/hdphoto" Target="../media/hdphoto1.wdp" /><Relationship Id="rId4" Type="http://schemas.openxmlformats.org/officeDocument/2006/relationships/image" Target="../media/image2.png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1/19/2026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image" Target="../media/image2.png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image" Target="../media/image3.png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microsoft.com/office/2007/relationships/hdphoto" Target="../media/hdphoto1.wdp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D342-10C6-6E66-4361-11981A970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Financial</a:t>
            </a:r>
            <a:r>
              <a:rPr lang="en-US" dirty="0"/>
              <a:t> </a:t>
            </a:r>
            <a:r>
              <a:rPr lang="en-US" u="sng" dirty="0"/>
              <a:t>analysis</a:t>
            </a:r>
            <a:r>
              <a:rPr lang="en-US" dirty="0"/>
              <a:t> </a:t>
            </a:r>
            <a:r>
              <a:rPr lang="en-US" u="sng" dirty="0"/>
              <a:t>and</a:t>
            </a:r>
            <a:r>
              <a:rPr lang="en-US" dirty="0"/>
              <a:t> </a:t>
            </a:r>
            <a:r>
              <a:rPr lang="en-US" u="sng" dirty="0"/>
              <a:t>planning</a:t>
            </a:r>
          </a:p>
        </p:txBody>
      </p:sp>
    </p:spTree>
    <p:extLst>
      <p:ext uri="{BB962C8B-B14F-4D97-AF65-F5344CB8AC3E}">
        <p14:creationId xmlns:p14="http://schemas.microsoft.com/office/powerpoint/2010/main" val="3952426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EC4E7B1-F05C-C5D6-4B1B-93C3D1503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Financial statement analysis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3EE6383-09D9-E2BF-7FE5-243EFA6256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3752" y="1913082"/>
            <a:ext cx="6016782" cy="40513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A6DBB61-D297-50FF-75E0-3AE9B5C57A70}"/>
              </a:ext>
            </a:extLst>
          </p:cNvPr>
          <p:cNvSpPr txBox="1"/>
          <p:nvPr/>
        </p:nvSpPr>
        <p:spPr>
          <a:xfrm>
            <a:off x="7774845" y="1913082"/>
            <a:ext cx="441715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studying a company’s financial reports to understand its performance, profitability, and financial position.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F8B074-D384-5AC1-63CC-16B6666F5673}"/>
              </a:ext>
            </a:extLst>
          </p:cNvPr>
          <p:cNvSpPr txBox="1"/>
          <p:nvPr/>
        </p:nvSpPr>
        <p:spPr>
          <a:xfrm>
            <a:off x="7774845" y="3292401"/>
            <a:ext cx="322286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Objectives of Financial Statement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know profitability
To check financial health
To help in decision making
To assess creditworthiness
To compare performance</a:t>
            </a:r>
          </a:p>
        </p:txBody>
      </p:sp>
    </p:spTree>
    <p:extLst>
      <p:ext uri="{BB962C8B-B14F-4D97-AF65-F5344CB8AC3E}">
        <p14:creationId xmlns:p14="http://schemas.microsoft.com/office/powerpoint/2010/main" val="1856382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D3256-E280-226C-970C-6C22FD04C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Financial ratio analysis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CE33C11-1C3B-8B22-F51C-D3131927AA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8223" y="1913082"/>
            <a:ext cx="5511972" cy="40513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563EDE-9626-9A28-B837-BCACC82093E7}"/>
              </a:ext>
            </a:extLst>
          </p:cNvPr>
          <p:cNvSpPr txBox="1"/>
          <p:nvPr/>
        </p:nvSpPr>
        <p:spPr>
          <a:xfrm>
            <a:off x="7423387" y="1913082"/>
            <a:ext cx="42022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evaluating a company’s financial performance by using ratios calculated from financial statements.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258404-05A0-10C7-EF6C-02225C2A7482}"/>
              </a:ext>
            </a:extLst>
          </p:cNvPr>
          <p:cNvSpPr txBox="1"/>
          <p:nvPr/>
        </p:nvSpPr>
        <p:spPr>
          <a:xfrm>
            <a:off x="7693857" y="3079760"/>
            <a:ext cx="26237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Types of Financial Ratios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54504C-60C6-A1FC-1967-4DD846084864}"/>
              </a:ext>
            </a:extLst>
          </p:cNvPr>
          <p:cNvSpPr txBox="1"/>
          <p:nvPr/>
        </p:nvSpPr>
        <p:spPr>
          <a:xfrm>
            <a:off x="7840349" y="3744590"/>
            <a:ext cx="60966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1. Liquidity Ratios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4B6EEA-08F3-9CC9-BEC2-D505DE2E02E0}"/>
              </a:ext>
            </a:extLst>
          </p:cNvPr>
          <p:cNvSpPr txBox="1"/>
          <p:nvPr/>
        </p:nvSpPr>
        <p:spPr>
          <a:xfrm>
            <a:off x="7836274" y="4215315"/>
            <a:ext cx="696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2. Profitability Ratios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2FB328-8FB5-F3A6-9FA0-C9007C6D85E4}"/>
              </a:ext>
            </a:extLst>
          </p:cNvPr>
          <p:cNvSpPr txBox="1"/>
          <p:nvPr/>
        </p:nvSpPr>
        <p:spPr>
          <a:xfrm>
            <a:off x="7836274" y="4704539"/>
            <a:ext cx="74030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3. Solvency Ratios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B0B013-159A-030E-AC80-C79862AC9D47}"/>
              </a:ext>
            </a:extLst>
          </p:cNvPr>
          <p:cNvSpPr txBox="1"/>
          <p:nvPr/>
        </p:nvSpPr>
        <p:spPr>
          <a:xfrm>
            <a:off x="7840859" y="5199875"/>
            <a:ext cx="76220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4. Activity / Turnover Ratios</a:t>
            </a:r>
          </a:p>
        </p:txBody>
      </p:sp>
    </p:spTree>
    <p:extLst>
      <p:ext uri="{BB962C8B-B14F-4D97-AF65-F5344CB8AC3E}">
        <p14:creationId xmlns:p14="http://schemas.microsoft.com/office/powerpoint/2010/main" val="3001698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C90DC-948D-620E-3CDF-A4323775A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Cash flow </a:t>
            </a:r>
            <a:r>
              <a:rPr lang="en-US" dirty="0" err="1"/>
              <a:t>forcasting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170946A-63A1-92DA-D392-785DEC7FCD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2475" y="1864183"/>
            <a:ext cx="6079324" cy="40513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DCF4FB-E4F7-19AE-DDD5-19FF773546C6}"/>
              </a:ext>
            </a:extLst>
          </p:cNvPr>
          <p:cNvSpPr txBox="1"/>
          <p:nvPr/>
        </p:nvSpPr>
        <p:spPr>
          <a:xfrm>
            <a:off x="7994346" y="1769324"/>
            <a:ext cx="42669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estimating the future cash inflows and cash outflows of a business for a specific period (week, month, quarter, or year).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D612BB-DAC2-633F-AD95-D3C4F6E9F461}"/>
              </a:ext>
            </a:extLst>
          </p:cNvPr>
          <p:cNvSpPr txBox="1"/>
          <p:nvPr/>
        </p:nvSpPr>
        <p:spPr>
          <a:xfrm>
            <a:off x="7969190" y="3081399"/>
            <a:ext cx="42228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Methods of Cash Flow Forecasting</a:t>
            </a:r>
          </a:p>
          <a:p>
            <a:endParaRPr lang="en-US" dirty="0"/>
          </a:p>
          <a:p>
            <a:r>
              <a:rPr lang="en-US" dirty="0"/>
              <a:t>1. Receipts and Payments Method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75F590-82DA-FE04-950B-649D986A9B06}"/>
              </a:ext>
            </a:extLst>
          </p:cNvPr>
          <p:cNvSpPr txBox="1"/>
          <p:nvPr/>
        </p:nvSpPr>
        <p:spPr>
          <a:xfrm>
            <a:off x="7994346" y="4254345"/>
            <a:ext cx="6182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2. Adjusted Profit and Loss Method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5E5F12-2341-DC2B-D746-FEF9B6E5A237}"/>
              </a:ext>
            </a:extLst>
          </p:cNvPr>
          <p:cNvSpPr txBox="1"/>
          <p:nvPr/>
        </p:nvSpPr>
        <p:spPr>
          <a:xfrm>
            <a:off x="7994346" y="4920089"/>
            <a:ext cx="70902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3. Balance Sheet Method</a:t>
            </a:r>
          </a:p>
        </p:txBody>
      </p:sp>
    </p:spTree>
    <p:extLst>
      <p:ext uri="{BB962C8B-B14F-4D97-AF65-F5344CB8AC3E}">
        <p14:creationId xmlns:p14="http://schemas.microsoft.com/office/powerpoint/2010/main" val="3649430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EEE59-EE9F-1778-154C-7B56B23EF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Break even analysis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32790F8-1880-2ABB-F03E-953887F1A1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3752" y="2093976"/>
            <a:ext cx="5928719" cy="40513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AACE38-F559-1B21-09CC-83EFFD5CE661}"/>
              </a:ext>
            </a:extLst>
          </p:cNvPr>
          <p:cNvSpPr txBox="1"/>
          <p:nvPr/>
        </p:nvSpPr>
        <p:spPr>
          <a:xfrm>
            <a:off x="7692329" y="1854895"/>
            <a:ext cx="42877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technique used to find the level of sales at which total cost equals total revenue .At this point, there is no profit and no loss.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641D0F-9F3A-D85C-62AD-055C7AD10182}"/>
              </a:ext>
            </a:extLst>
          </p:cNvPr>
          <p:cNvSpPr txBox="1"/>
          <p:nvPr/>
        </p:nvSpPr>
        <p:spPr>
          <a:xfrm>
            <a:off x="7802703" y="3242463"/>
            <a:ext cx="360284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Importance of Break-Even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Helps in profit planning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Aids in pricing decisions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Useful for cost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Helps management in decision making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27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BE533-4E2C-98FB-4E0E-634F5DE0F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Financial health assessment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3456D9C-6422-6739-C7B8-0B5FAA1996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3663" y="1888632"/>
            <a:ext cx="6076950" cy="40513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BC5699-7D8A-06F0-23C4-E4A65C1DA0F4}"/>
              </a:ext>
            </a:extLst>
          </p:cNvPr>
          <p:cNvSpPr txBox="1"/>
          <p:nvPr/>
        </p:nvSpPr>
        <p:spPr>
          <a:xfrm>
            <a:off x="7839024" y="1977143"/>
            <a:ext cx="37865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evaluating the overall financial condition of a business to know whether it is stable, profitable, liquid, and solvent.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A03C62-696C-2643-C992-B4865211267C}"/>
              </a:ext>
            </a:extLst>
          </p:cNvPr>
          <p:cNvSpPr txBox="1"/>
          <p:nvPr/>
        </p:nvSpPr>
        <p:spPr>
          <a:xfrm>
            <a:off x="8034618" y="3301056"/>
            <a:ext cx="37865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Tools Used for Financial Health Assessment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8A65E2-4CAB-5234-9C14-49D9C978DCE6}"/>
              </a:ext>
            </a:extLst>
          </p:cNvPr>
          <p:cNvSpPr txBox="1"/>
          <p:nvPr/>
        </p:nvSpPr>
        <p:spPr>
          <a:xfrm>
            <a:off x="8097269" y="3947387"/>
            <a:ext cx="26863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1.Financial statement analysis</a:t>
            </a:r>
          </a:p>
          <a:p>
            <a:r>
              <a:rPr lang="en-US" dirty="0"/>
              <a:t>2.Ratio analysis</a:t>
            </a: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3356EF-886C-0EBE-A021-7FC015E76E72}"/>
              </a:ext>
            </a:extLst>
          </p:cNvPr>
          <p:cNvSpPr txBox="1"/>
          <p:nvPr/>
        </p:nvSpPr>
        <p:spPr>
          <a:xfrm>
            <a:off x="8097269" y="4773454"/>
            <a:ext cx="85060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3.Cash flow analysis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82FE29-659E-1307-6978-C3438000D10B}"/>
              </a:ext>
            </a:extLst>
          </p:cNvPr>
          <p:cNvSpPr txBox="1"/>
          <p:nvPr/>
        </p:nvSpPr>
        <p:spPr>
          <a:xfrm>
            <a:off x="8097269" y="5142786"/>
            <a:ext cx="83014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4.Break-even analysis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977DC6-242A-DEC0-625F-7E070D09F86C}"/>
              </a:ext>
            </a:extLst>
          </p:cNvPr>
          <p:cNvSpPr txBox="1"/>
          <p:nvPr/>
        </p:nvSpPr>
        <p:spPr>
          <a:xfrm>
            <a:off x="8097269" y="5512118"/>
            <a:ext cx="83014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5.Trend analysis</a:t>
            </a:r>
          </a:p>
        </p:txBody>
      </p:sp>
    </p:spTree>
    <p:extLst>
      <p:ext uri="{BB962C8B-B14F-4D97-AF65-F5344CB8AC3E}">
        <p14:creationId xmlns:p14="http://schemas.microsoft.com/office/powerpoint/2010/main" val="631274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92B65-8E61-0538-FC8A-7C2117B182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      </a:t>
            </a:r>
            <a:r>
              <a:rPr lang="en-US" u="sng" dirty="0"/>
              <a:t>Thank</a:t>
            </a:r>
            <a:r>
              <a:rPr lang="en-US" dirty="0"/>
              <a:t> </a:t>
            </a:r>
            <a:r>
              <a:rPr lang="en-US" u="sng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713695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Wood Type</vt:lpstr>
      <vt:lpstr>Financial analysis and planning</vt:lpstr>
      <vt:lpstr>1. Financial statement analysis</vt:lpstr>
      <vt:lpstr>2. Financial ratio analysis</vt:lpstr>
      <vt:lpstr>3. Cash flow forcasting</vt:lpstr>
      <vt:lpstr>4. Break even analysis</vt:lpstr>
      <vt:lpstr>5. Financial health assessment</vt:lpstr>
      <vt:lpstr>     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analysis and planning</dc:title>
  <dc:creator>Konda Balu</dc:creator>
  <cp:lastModifiedBy>Konda Balu</cp:lastModifiedBy>
  <cp:revision>2</cp:revision>
  <dcterms:created xsi:type="dcterms:W3CDTF">2026-01-19T07:50:00Z</dcterms:created>
  <dcterms:modified xsi:type="dcterms:W3CDTF">2026-01-19T10:02:08Z</dcterms:modified>
</cp:coreProperties>
</file>